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141568acd6497a" /><Relationship Type="http://schemas.openxmlformats.org/officeDocument/2006/relationships/extended-properties" Target="/docProps/app.xml" Id="R26aa605070634dc7" /><Relationship Type="http://schemas.openxmlformats.org/officeDocument/2006/relationships/officeDocument" Target="/ppt/presentation.xml" Id="R9a0c7133528c44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719243a6d24b2e"/>
  </p:sldMasterIdLst>
  <p:notesMasterIdLst>
    <p:notesMasterId xmlns:r="http://schemas.openxmlformats.org/officeDocument/2006/relationships" r:id="Rf773fdb4ca004e70"/>
  </p:notesMasterIdLst>
  <p:sldIdLst>
    <p:sldId xmlns:r="http://schemas.openxmlformats.org/officeDocument/2006/relationships" id="256" r:id="R7e7716ebc44643b8"/>
    <p:sldId xmlns:r="http://schemas.openxmlformats.org/officeDocument/2006/relationships" id="257" r:id="R6dc3e6ab76fa4fba"/>
    <p:sldId xmlns:r="http://schemas.openxmlformats.org/officeDocument/2006/relationships" id="258" r:id="R1ca3644a934c43ca"/>
    <p:sldId xmlns:r="http://schemas.openxmlformats.org/officeDocument/2006/relationships" id="259" r:id="R54f0fe6b1e474f7a"/>
    <p:sldId xmlns:r="http://schemas.openxmlformats.org/officeDocument/2006/relationships" id="260" r:id="R98d21531c4524296"/>
    <p:sldId xmlns:r="http://schemas.openxmlformats.org/officeDocument/2006/relationships" id="261" r:id="R2c4a377685d84332"/>
    <p:sldId xmlns:r="http://schemas.openxmlformats.org/officeDocument/2006/relationships" id="262" r:id="Rd577bec6a18e41bb"/>
    <p:sldId xmlns:r="http://schemas.openxmlformats.org/officeDocument/2006/relationships" id="263" r:id="R051b8eb9951245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c06962194d4dff" /><Relationship Type="http://schemas.openxmlformats.org/officeDocument/2006/relationships/slideMaster" Target="/ppt/slideMasters/slideMaster1.xml" Id="R50719243a6d24b2e" /><Relationship Type="http://schemas.openxmlformats.org/officeDocument/2006/relationships/notesMaster" Target="/ppt/notesMasters/notesMaster1.xml" Id="Rf773fdb4ca004e70" /><Relationship Type="http://schemas.openxmlformats.org/officeDocument/2006/relationships/presProps" Target="/ppt/presProps.xml" Id="R024d5511bf7f4a86" /><Relationship Type="http://schemas.openxmlformats.org/officeDocument/2006/relationships/tableStyles" Target="/ppt/tableStyles.xml" Id="R576950f935ce4760" /><Relationship Type="http://schemas.openxmlformats.org/officeDocument/2006/relationships/slide" Target="/ppt/slides/slide1.xml" Id="R7e7716ebc44643b8" /><Relationship Type="http://schemas.openxmlformats.org/officeDocument/2006/relationships/slide" Target="/ppt/slides/slide2.xml" Id="R6dc3e6ab76fa4fba" /><Relationship Type="http://schemas.openxmlformats.org/officeDocument/2006/relationships/slide" Target="/ppt/slides/slide3.xml" Id="R1ca3644a934c43ca" /><Relationship Type="http://schemas.openxmlformats.org/officeDocument/2006/relationships/slide" Target="/ppt/slides/slide4.xml" Id="R54f0fe6b1e474f7a" /><Relationship Type="http://schemas.openxmlformats.org/officeDocument/2006/relationships/slide" Target="/ppt/slides/slide5.xml" Id="R98d21531c4524296" /><Relationship Type="http://schemas.openxmlformats.org/officeDocument/2006/relationships/slide" Target="/ppt/slides/slide6.xml" Id="R2c4a377685d84332" /><Relationship Type="http://schemas.openxmlformats.org/officeDocument/2006/relationships/slide" Target="/ppt/slides/slide7.xml" Id="Rd577bec6a18e41bb" /><Relationship Type="http://schemas.openxmlformats.org/officeDocument/2006/relationships/slide" Target="/ppt/slides/slide8.xml" Id="R051b8eb9951245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a44dcd72f41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55f52fd10a414b" /><Relationship Type="http://schemas.openxmlformats.org/officeDocument/2006/relationships/notesMaster" Target="/ppt/notesMasters/notesMaster1.xml" Id="R120a25dcbc654a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24f05e8fc04a3a" /><Relationship Type="http://schemas.openxmlformats.org/officeDocument/2006/relationships/notesMaster" Target="/ppt/notesMasters/notesMaster1.xml" Id="R8d1706cb0fe044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01c6888a5b47e0" /><Relationship Type="http://schemas.openxmlformats.org/officeDocument/2006/relationships/notesMaster" Target="/ppt/notesMasters/notesMaster1.xml" Id="R1afb4a22b1e848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4192031cf64d86" /><Relationship Type="http://schemas.openxmlformats.org/officeDocument/2006/relationships/notesMaster" Target="/ppt/notesMasters/notesMaster1.xml" Id="R2bc643b6cbd64b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e3c19f663c4bac" /><Relationship Type="http://schemas.openxmlformats.org/officeDocument/2006/relationships/notesMaster" Target="/ppt/notesMasters/notesMaster1.xml" Id="R239463a057f04d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19a5668d14464b" /><Relationship Type="http://schemas.openxmlformats.org/officeDocument/2006/relationships/notesMaster" Target="/ppt/notesMasters/notesMaster1.xml" Id="Rdc799c4427d94d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0fd8a4bf3a4975" /><Relationship Type="http://schemas.openxmlformats.org/officeDocument/2006/relationships/notesMaster" Target="/ppt/notesMasters/notesMaster1.xml" Id="R244d9e34a3e94b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1de429e4c14a44" /><Relationship Type="http://schemas.openxmlformats.org/officeDocument/2006/relationships/notesMaster" Target="/ppt/notesMasters/notesMaster1.xml" Id="Rf1ebe36348a444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3fda0e2d346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79145f95724bea" /><Relationship Type="http://schemas.openxmlformats.org/officeDocument/2006/relationships/slideLayout" Target="/ppt/slideLayouts/slideLayout1.xml" Id="R6778bd7b519945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78bd7b519945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fe843c2734781" /><Relationship Type="http://schemas.openxmlformats.org/officeDocument/2006/relationships/notesSlide" Target="/ppt/notesSlides/notesSlide1.xml" Id="R1693ca3064604b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0cba2bfdb4ff0" /><Relationship Type="http://schemas.openxmlformats.org/officeDocument/2006/relationships/image" Target="/ppt/media/image.png" Id="R75e87125d28148ff" /><Relationship Type="http://schemas.openxmlformats.org/officeDocument/2006/relationships/notesSlide" Target="/ppt/notesSlides/notesSlide2.xml" Id="Ra1584d3d1e6c4a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36c115c484c29" /><Relationship Type="http://schemas.openxmlformats.org/officeDocument/2006/relationships/image" Target="/ppt/media/image.jpeg" Id="Redbff4c2d70749c1" /><Relationship Type="http://schemas.openxmlformats.org/officeDocument/2006/relationships/notesSlide" Target="/ppt/notesSlides/notesSlide3.xml" Id="R57053f4cfec54a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9d6572d554948" /><Relationship Type="http://schemas.openxmlformats.org/officeDocument/2006/relationships/image" Target="/ppt/media/image2.jpeg" Id="R89d0c40fdb9e441d" /><Relationship Type="http://schemas.openxmlformats.org/officeDocument/2006/relationships/notesSlide" Target="/ppt/notesSlides/notesSlide4.xml" Id="R31e67a01964441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d143b5b3d4ceb" /><Relationship Type="http://schemas.openxmlformats.org/officeDocument/2006/relationships/image" Target="/ppt/media/image3.jpeg" Id="R4a2884f56a8c4bd4" /><Relationship Type="http://schemas.openxmlformats.org/officeDocument/2006/relationships/notesSlide" Target="/ppt/notesSlides/notesSlide5.xml" Id="Rf6b054dca75d4e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1150a2edb4ba3" /><Relationship Type="http://schemas.openxmlformats.org/officeDocument/2006/relationships/image" Target="/ppt/media/image4.jpeg" Id="R40c4d03720494687" /><Relationship Type="http://schemas.openxmlformats.org/officeDocument/2006/relationships/notesSlide" Target="/ppt/notesSlides/notesSlide6.xml" Id="R42a8147fab6e44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780ae041d4da5" /><Relationship Type="http://schemas.openxmlformats.org/officeDocument/2006/relationships/notesSlide" Target="/ppt/notesSlides/notesSlide7.xml" Id="R298f0388b5684c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fc85dd42a4fc9" /><Relationship Type="http://schemas.openxmlformats.org/officeDocument/2006/relationships/notesSlide" Target="/ppt/notesSlides/notesSlide8.xml" Id="Rd550d5ae344a4d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2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28D78-45CE-4139-BF22-520E51BF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143000"/>
            <a:ext cx="4953000" cy="495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256F1-485C-46F2-8B27-AF0B27A4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C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88553-FABE-4987-83E2-768D7769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3336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35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969D3-7ABC-478A-9AB9-B06246F1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2475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DB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DBCA"/>
                </a:solidFill>
                <a:latin typeface="Arial"/>
                <a:ea typeface="Arial"/>
                <a:cs typeface="Arial"/>
              </a:rPr>
              <a:t>МОДУЛЬ ДЛЯ 1С-БИТРИКС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FB098-8DA4-40CB-BE79-1F6E2051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Импорт из Excel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 слепой записи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7D29F-B392-4784-9740-54CD5131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4E0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4E0E6"/>
                </a:solidFill>
                <a:latin typeface="Arial"/>
                <a:ea typeface="Arial"/>
                <a:cs typeface="Arial"/>
              </a:rPr>
              <a:t>Файлы XLSX, XLS, ODS и CSV превращаются в разделы, свойства, тексты и изображения Битрикс.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F109D-1A0C-4F15-BF06-86397A8C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45148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A6A98-24E2-48FA-9DF1-9DAD2B6C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Сначала проверка, затем контролируемый импорт.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14FBE-E902-4A23-AD61-8B4A3EB7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37528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5314A-0716-4B78-9B9F-1F1153E8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Профили импорта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31ED5-42CE-424A-BF39-401C8EF4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Настройка один раз, рабочий файл при каждом запуске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8E700-9D35-4AEB-AB66-AC0283B8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37528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E2945-FE75-47D2-ACFF-7625D026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Проверка без записи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44ED9-CE31-4C64-BF2A-6D2CFEA8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Результат и оценка отката до изменения каталога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C89F2-C7BE-4D62-ABE6-9E3066B4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7528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B7582-F614-4E5B-95DC-A39ED4A2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Новый или существующий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9F868-BA93-4B5B-8854-A61C593A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339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Один интерфейс для обоих сценариев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553F4-8440-4357-B2C5-5E77493E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2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B2BE"/>
                </a:solidFill>
                <a:latin typeface="Arial"/>
                <a:ea typeface="Arial"/>
                <a:cs typeface="Arial"/>
              </a:rPr>
              <a:t>WEBENOT / IMPORT FROM EXCEL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25EE9-1F2D-49DE-AB8C-AE964C36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B2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B2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945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01D45-94E2-4497-A347-AE7CF2AB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Рабочая книга и выбор листа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88597-88B4-48C7-9B68-6CAA3171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40F57-E21F-4D71-BA57-2DEC4BC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Модуль показывает структуру файла и первые строки до настройки импорта.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87125d28148ff"/>
          <a:srcRect xmlns:a="http://schemas.openxmlformats.org/drawingml/2006/main" l="0" t="10991" r="0" b="10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56BB4-C7C9-4DBF-9BDF-81ED6ABC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28800"/>
            <a:ext cx="2724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FAE93-4427-4540-A394-0500D1C4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9547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8FA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8FAF"/>
                </a:solidFill>
                <a:latin typeface="Arial"/>
                <a:ea typeface="Arial"/>
                <a:cs typeface="Arial"/>
              </a:rPr>
              <a:t>РАБОЧИЙ ФАЙЛ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8BFCA-7370-4A14-8F12-B7759D7B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Несколько листов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7DE03-0E96-4C51-A52B-7088EB1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Пользователь выбирает нужный лист перед проверкой.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322BD-CD16-46CA-96D8-52A8FE93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67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Своя структура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2A3A5-0F20-4CC1-8F4C-08C56879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Строка заголовков определяет назначение каждого столбца.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AEA22-D01D-48BF-9DA1-72A793EA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28956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5773C-F75D-4827-8D32-BF6D1FE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102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9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На этом шаге каталог не меняется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D4E96-FB7F-42D3-9D03-3E385C97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/ IMPORT FROM EXCEL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74714-55A7-4E7A-B5B0-82F1BC9F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0608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E1041-2BAA-4371-A74D-B1502C0A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Сопоставление колонок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7E071-6352-423C-81AC-61F10924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55531-23FD-40F6-9E26-1B0E1882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Однозначные назначения модуль предлагает автоматически. Остальные выбирает пользователь.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ff4c2d70749c1"/>
          <a:srcRect xmlns:a="http://schemas.openxmlformats.org/drawingml/2006/main" l="0" t="1892" r="0" b="1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600950" cy="4114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8B7BC-0A60-44B8-B3A1-0B11128D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6215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43348-5C26-4002-BB01-6F8AC9C7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288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РАСПОЗНАНО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4F34C-90E9-4192-BEE3-1D7A6DB9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19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Точное соответствие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22509-D589-471B-8F19-DC5A74BB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Назначение можно проверить и изменить.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FC75A-7F6D-431E-9E0A-1D1BC645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8E468-E3E3-4D29-9D11-A1BAB023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147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8A2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8A22"/>
                </a:solidFill>
                <a:latin typeface="Arial"/>
                <a:ea typeface="Arial"/>
                <a:cs typeface="Arial"/>
              </a:rPr>
              <a:t>НУЖНО ВЫБРАТЬ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BAFB8-FDCE-483D-B4E5-88F319FF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Решение пользователя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F950F-9CEF-464E-9BE0-9307C545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Можно выбрать поле, свойство или отключить колонку.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ADB33-4419-49A0-B01A-0C1A48C6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DCA0F-AA53-4AC2-9B12-A4ED3F14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8FA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8FAF"/>
                </a:solidFill>
                <a:latin typeface="Arial"/>
                <a:ea typeface="Arial"/>
                <a:cs typeface="Arial"/>
              </a:rPr>
              <a:t>НАСТРОЕНО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23057-FFA9-48AA-8606-F0A719CB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67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Профиль сохраняет выбор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BA431-32EB-43D8-B9AF-F3107148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/ IMPORT FROM 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BA14A-A2E4-4199-B4DB-5D40CDC4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54935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632B2-5BC2-4AD9-93D2-7C367D8B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Проверка перед импортом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FA5E2-92D1-4E03-8619-C4F107A3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EC104-3D02-47DF-BFC1-580F12A6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Контрольный запуск рассчитывает изменения и не записывает данные в каталог.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0c40fdb9e441d"/>
          <a:srcRect xmlns:a="http://schemas.openxmlformats.org/drawingml/2006/main" l="0" t="1405" r="0" b="14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524750" cy="4114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64EA9-9E8B-41F1-9A69-EF4B6CD4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62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Расчёт результата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EDB94-03C1-45D9-8589-F589CC6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193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Видно, сколько строк модуль добавит, обновит или пропустит.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E91ED-09DF-4BA0-92C2-482BD5BC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Оценка отката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F67C2-BCB9-4516-856E-C7E2BC7F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До запуска отображаются объём резервной копии и количество файлов.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81F73-6AB6-4480-908E-012ABA0D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571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39083-C9B8-45D6-ABD4-F37F3E1E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816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0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Запись запускается отдельной кнопкой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99AF7-E0DB-439F-A335-9E4B7FE7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/ IMPORT FROM EXCEL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04F67-8B80-419B-B449-7D628560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35473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3C618-3151-4748-A2E5-B3130F81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Вложенные разделы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6BA10-13C6-4989-8DE2-D271E3AB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4A16C-D341-43CF-AA78-5E054AB6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Каждый уровень из файла становится обычным разделом Битрикс в общей иерархии.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884f56a8c4bd4"/>
          <a:srcRect xmlns:a="http://schemas.openxmlformats.org/drawingml/2006/main" l="0" t="24322" r="0" b="2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1752600"/>
            <a:ext cx="7391400" cy="4152900"/>
          </a:xfrm>
          <a:prstGeom xmlns:a="http://schemas.openxmlformats.org/drawingml/2006/main" prst="roundRect">
            <a:avLst>
              <a:gd name="adj" fmla="val 412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CD003-D3E9-4A08-9D88-A4B18E17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Уровень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752DF-FF48-48C3-821F-7267D8C5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Родительский раздел каталога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15515-DA4A-432C-9964-5559EAD4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Уровень 2 и ниже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93435-E9AF-4488-899E-5D235F9E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Дочерние разделы внутри выбранного пути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20294-4A8A-40B6-B255-5BB5C32A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9EA68-D8E0-4FB8-AF69-A1A8FCDF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Путь формируется сверху вниз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557B4-DFD3-43AB-94B1-7D524BDD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/ IMPORT FROM EXCEL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AA2AF-E73B-4C9F-ACD2-45E6C357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10854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5AB79-75E5-496C-8599-A7E3199C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Результат в инфоблоке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02680-89B0-478B-9AF2-974E463A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06403-1031-477E-8D22-882AFC42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Импортированные данные остаются доступны штатным компонентам и административным инструментам Битрикс.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4d03720494687"/>
          <a:srcRect xmlns:a="http://schemas.openxmlformats.org/drawingml/2006/main" l="45" t="0" r="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7239000" cy="4076700"/>
          </a:xfrm>
          <a:prstGeom xmlns:a="http://schemas.openxmlformats.org/drawingml/2006/main" prst="roundRect">
            <a:avLst>
              <a:gd name="adj" fmla="val 420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4A7E4-A5B3-4FD8-A341-FA60CC06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478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Поля элемента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C892C-914B-42E5-ABB0-E84A1F33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Название, коды, активность, тексты и даты.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09746-A3F2-43A9-94BC-88B52FC2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Свойства инфоблока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AD664-4ED8-4F32-9D72-AFB17D3D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814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Существующие свойства обновляются, новые создаются по настройкам профиля.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89F63-493E-4BAC-914C-455F6ACD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9527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23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16596-3086-4C0B-BD02-D44FD390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577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Файлы и изображения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9702C-23EB-468F-9A57-C8001B72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7685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8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8DF"/>
                </a:solidFill>
                <a:latin typeface="Arial"/>
                <a:ea typeface="Arial"/>
                <a:cs typeface="Arial"/>
              </a:rPr>
              <a:t>Ссылки скачиваются и сохраняются средствами Битрикс.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11D07-35D1-4266-A6B1-DEE4947D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/ IMPORT FROM EXCEL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83E12-10BE-44FE-AD29-54A5C2A2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7394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EB8BB-3DF3-40C2-8D09-515F387D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Новый и существующий инфоблок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504B1-7D18-4274-A109-4BDFBAAF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1B3AF-DB5F-4FA2-85D9-4883305F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Профиль хранит структуру и правила. Рабочий файл можно менять при каждом запуске.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A1EDD-3000-4E53-A23C-1A334272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7625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BA58A-0D1F-4971-9731-A5B90979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000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9D2DE-CE5E-4BF3-80C6-2659055D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НОВЫЙ ИНФОБЛОК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41E70-D6C0-480B-91BC-FBB7EF22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7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Создать структуру</a:t>
            </a:r>
          </a:p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с нуля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C8365-DCCB-4B84-BB91-0D76A0B2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указать название и тип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создать свойства из колонок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построить вложенные разделы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заполнить URL-шаблоны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25103-579A-442A-A999-DD82CBE8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66900"/>
            <a:ext cx="47625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806EB-F842-4309-B39B-3386CEC6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2552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FCBDD-34BD-46BB-B644-7AC83EA4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0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8FA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8FAF"/>
                </a:solidFill>
                <a:latin typeface="Arial"/>
                <a:ea typeface="Arial"/>
                <a:cs typeface="Arial"/>
              </a:rPr>
              <a:t>СУЩЕСТВУЮЩИЙ ИНФОБЛОК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DEAB2-BB4E-48B4-99AE-509A2A50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7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Обновить без</a:t>
            </a:r>
          </a:p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дублирования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4C112-8CD4-4071-9306-70DDFEC7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766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выбрать реальные свойства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найти элементы по артикулу или ID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обновлять только назначенные поля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не менять существующие URL-шаблоны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DDF94-BC5D-4157-AD6F-0428E49E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67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23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930A7-66F6-4DD8-8035-DFD81884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76875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Режимы записи: добавить, обновить, добавить и обновить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3C4D2-C153-4DAB-93B9-41D2ECC8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/ IMPORT FROM 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E40C2-3690-4553-8AD1-3B47B124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01979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22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38B64-7DFE-4006-9D9F-59A271EF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428750"/>
            <a:ext cx="4953000" cy="495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E6669-BBCB-4FD2-9AC9-72B5C69B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35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9CBD7-58B6-4359-B75F-6EECB3FF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77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DB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DBCA"/>
                </a:solidFill>
                <a:latin typeface="Arial"/>
                <a:ea typeface="Arial"/>
                <a:cs typeface="Arial"/>
              </a:rPr>
              <a:t>ГОТОВО К УСТАНОВКЕ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1FE78-3353-4FDD-924B-D2CA3E22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Импорт из Excel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1С-Битрикс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56B53-7107-4A39-870C-749BC38D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4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6E2E8"/>
                </a:solidFill>
                <a:latin typeface="Arial"/>
                <a:ea typeface="Arial"/>
                <a:cs typeface="Arial"/>
              </a:rPr>
              <a:t>Контролируемая загрузка в новый или существующий инфоблок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21F48-6CB9-4CAF-AAA7-EF789CDB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4857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EDEED-6609-4622-BF35-ACB7D4E3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github.com/YuryGorshkov/IMPORT_FROM_EXCEL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347B8-991C-4017-8795-60EEBD1E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D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DC7"/>
                </a:solidFill>
                <a:latin typeface="Arial"/>
                <a:ea typeface="Arial"/>
                <a:cs typeface="Arial"/>
              </a:rPr>
              <a:t>Профили, проверка, изображения, разделы, история и откат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A6B49-A714-44C7-AFB0-700FBF50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32766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5C166-D69E-4732-AF35-1F171569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2590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23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XLSX  XLS</a:t>
            </a:r>
          </a:p>
          <a:p xmlns:a="http://schemas.openxmlformats.org/drawingml/2006/main">
            <a:pPr algn="ctr"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ODS  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ECDA6-7190-46E3-B6A0-81DFB046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59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Разделы и свойства</a:t>
            </a:r>
          </a:p>
          <a:p xmlns:a="http://schemas.openxmlformats.org/drawingml/2006/main">
            <a:pPr algn="ctr">
              <a:defRPr sz="1350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Тексты и изображения</a:t>
            </a:r>
          </a:p>
          <a:p xmlns:a="http://schemas.openxmlformats.org/drawingml/2006/main">
            <a:pPr algn="ctr">
              <a:defRPr sz="1350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Проверка и откат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BA6AB-F95C-464F-9205-7A52F830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2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B2BE"/>
                </a:solidFill>
                <a:latin typeface="Arial"/>
                <a:ea typeface="Arial"/>
                <a:cs typeface="Arial"/>
              </a:rPr>
              <a:t>WEBENOT / IMPORT FROM EXCEL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7B35E-FBD7-4B40-A902-EF0219D2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B2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B2B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5454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2026-09-26T12:11:00.7200000Z</dcterms:created>
  <dcterms:modified xsi:type="dcterms:W3CDTF">2026-09-26T12:11:00.7200000Z</dcterms:modified>
</coreProperties>
</file>